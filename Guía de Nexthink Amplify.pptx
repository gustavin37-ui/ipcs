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4" r:id="rId4"/>
    <p:sldMasterId id="2147483703" r:id="rId5"/>
    <p:sldMasterId id="2147483712" r:id="rId6"/>
  </p:sldMasterIdLst>
  <p:notesMasterIdLst>
    <p:notesMasterId r:id="rId19"/>
  </p:notesMasterIdLst>
  <p:handoutMasterIdLst>
    <p:handoutMasterId r:id="rId20"/>
  </p:handoutMasterIdLst>
  <p:sldIdLst>
    <p:sldId id="261" r:id="rId7"/>
    <p:sldId id="272" r:id="rId8"/>
    <p:sldId id="273" r:id="rId9"/>
    <p:sldId id="274" r:id="rId10"/>
    <p:sldId id="275" r:id="rId11"/>
    <p:sldId id="276" r:id="rId12"/>
    <p:sldId id="277" r:id="rId13"/>
    <p:sldId id="279" r:id="rId14"/>
    <p:sldId id="278" r:id="rId15"/>
    <p:sldId id="280" r:id="rId16"/>
    <p:sldId id="281" r:id="rId17"/>
    <p:sldId id="270" r:id="rId18"/>
  </p:sldIdLst>
  <p:sldSz cx="9906000" cy="6858000" type="A4"/>
  <p:notesSz cx="6742113" cy="9872663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677061F7-8D60-48BB-8821-3ECD5D9D20C9}">
          <p14:sldIdLst>
            <p14:sldId id="261"/>
            <p14:sldId id="272"/>
            <p14:sldId id="273"/>
            <p14:sldId id="274"/>
            <p14:sldId id="275"/>
            <p14:sldId id="276"/>
            <p14:sldId id="277"/>
            <p14:sldId id="279"/>
            <p14:sldId id="278"/>
            <p14:sldId id="280"/>
            <p14:sldId id="281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ÑOZ OLMO, MIGUEL ANGEL" initials="MOMA" lastIdx="1" clrIdx="0">
    <p:extLst>
      <p:ext uri="{19B8F6BF-5375-455C-9EA6-DF929625EA0E}">
        <p15:presenceInfo xmlns:p15="http://schemas.microsoft.com/office/powerpoint/2012/main" userId="S::E_MMO143@madrid.org::824f9976-c074-4601-a0e2-dfba4132183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3039"/>
    <a:srgbClr val="E641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B92D89-1608-A55C-AF73-74D923A48ABF}" v="1" dt="2026-05-11T09:55:27.6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12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18971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95B43-5D37-8C4E-AA7F-78AEF58312BB}" type="datetimeFigureOut">
              <a:rPr lang="es-ES_tradnl" smtClean="0"/>
              <a:t>30/05/2026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_tradnl"/>
              <a:t>Título presentación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18971" y="9377317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72EA66-B6D4-4E46-91AE-B636466FAEF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919397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18971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EC308-B00B-40F7-BD24-24FF3D1F4D82}" type="datetimeFigureOut">
              <a:rPr lang="es-ES" smtClean="0"/>
              <a:t>30/05/2026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5200" y="1233488"/>
            <a:ext cx="4811713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4212" y="4751219"/>
            <a:ext cx="539369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"/>
              <a:t>Título presentación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18971" y="9377317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46A3C6-5A25-4E8A-AE8E-FB93B36EB8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879551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9714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77" y="564250"/>
            <a:ext cx="2436489" cy="59258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71687" y="2489443"/>
            <a:ext cx="7562626" cy="968823"/>
          </a:xfrm>
          <a:prstGeom prst="rect">
            <a:avLst/>
          </a:prstGeom>
        </p:spPr>
        <p:txBody>
          <a:bodyPr anchor="ctr"/>
          <a:lstStyle>
            <a:lvl1pPr algn="ctr">
              <a:defRPr sz="2400" cap="all" baseline="0"/>
            </a:lvl1pPr>
          </a:lstStyle>
          <a:p>
            <a:r>
              <a:rPr lang="es-ES"/>
              <a:t>Haga clic para modificar el estilo de título del patrón 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>
          <a:xfrm>
            <a:off x="2549525" y="3614738"/>
            <a:ext cx="4884738" cy="6556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400" cap="all" baseline="0">
                <a:solidFill>
                  <a:srgbClr val="CD3039"/>
                </a:solidFill>
              </a:defRPr>
            </a:lvl1pPr>
            <a:lvl2pPr marL="457200" indent="0" algn="ctr">
              <a:buFontTx/>
              <a:buNone/>
              <a:defRPr sz="1400">
                <a:solidFill>
                  <a:srgbClr val="CD3039"/>
                </a:solidFill>
              </a:defRPr>
            </a:lvl2pPr>
            <a:lvl3pPr marL="914400" indent="0" algn="ctr">
              <a:buFontTx/>
              <a:buNone/>
              <a:defRPr sz="1400">
                <a:solidFill>
                  <a:srgbClr val="CD3039"/>
                </a:solidFill>
              </a:defRPr>
            </a:lvl3pPr>
            <a:lvl4pPr marL="1371600" indent="0" algn="ctr">
              <a:buFontTx/>
              <a:buNone/>
              <a:defRPr sz="1400">
                <a:solidFill>
                  <a:srgbClr val="CD3039"/>
                </a:solidFill>
              </a:defRPr>
            </a:lvl4pPr>
            <a:lvl5pPr marL="1828800" indent="0" algn="ctr">
              <a:buFontTx/>
              <a:buNone/>
              <a:defRPr sz="1400">
                <a:solidFill>
                  <a:srgbClr val="CD3039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object 7"/>
          <p:cNvSpPr/>
          <p:nvPr userDrawn="1"/>
        </p:nvSpPr>
        <p:spPr>
          <a:xfrm>
            <a:off x="3441530" y="3542486"/>
            <a:ext cx="3023235" cy="0"/>
          </a:xfrm>
          <a:custGeom>
            <a:avLst/>
            <a:gdLst/>
            <a:ahLst/>
            <a:cxnLst/>
            <a:rect l="l" t="t" r="r" b="b"/>
            <a:pathLst>
              <a:path w="3023235">
                <a:moveTo>
                  <a:pt x="0" y="0"/>
                </a:moveTo>
                <a:lnTo>
                  <a:pt x="3023222" y="0"/>
                </a:lnTo>
              </a:path>
            </a:pathLst>
          </a:custGeom>
          <a:ln w="7199">
            <a:solidFill>
              <a:srgbClr val="E2001A"/>
            </a:solidFill>
          </a:ln>
        </p:spPr>
        <p:txBody>
          <a:bodyPr wrap="square" lIns="0" tIns="0" rIns="0" bIns="0" rtlCol="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1025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á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/>
          <p:cNvSpPr/>
          <p:nvPr userDrawn="1"/>
        </p:nvSpPr>
        <p:spPr>
          <a:xfrm rot="16200000">
            <a:off x="6393996" y="3710423"/>
            <a:ext cx="6174001" cy="121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3999" y="864475"/>
            <a:ext cx="8568000" cy="828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 cap="all" baseline="0">
                <a:solidFill>
                  <a:srgbClr val="CD3039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6" name="Marcador de texto 3"/>
          <p:cNvSpPr>
            <a:spLocks noGrp="1"/>
          </p:cNvSpPr>
          <p:nvPr>
            <p:ph type="body" sz="quarter" idx="10"/>
          </p:nvPr>
        </p:nvSpPr>
        <p:spPr>
          <a:xfrm>
            <a:off x="683999" y="1872476"/>
            <a:ext cx="8568000" cy="438853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  <a:defRPr sz="1800" b="1">
                <a:solidFill>
                  <a:srgbClr val="CD3039"/>
                </a:solidFill>
              </a:defRPr>
            </a:lvl1pPr>
            <a:lvl2pPr marL="720725" indent="-365125">
              <a:lnSpc>
                <a:spcPct val="110000"/>
              </a:lnSpc>
              <a:spcBef>
                <a:spcPts val="600"/>
              </a:spcBef>
              <a:buFont typeface="+mj-lt"/>
              <a:buAutoNum type="alphaUcPeriod"/>
              <a:defRPr sz="1600" b="1"/>
            </a:lvl2pPr>
            <a:lvl3pPr marL="989013" indent="-268288">
              <a:lnSpc>
                <a:spcPct val="100000"/>
              </a:lnSpc>
              <a:buFont typeface="Courier New" panose="02070309020205020404" pitchFamily="49" charset="0"/>
              <a:buChar char="o"/>
              <a:defRPr sz="1600"/>
            </a:lvl3pPr>
            <a:lvl4pPr marL="1258888" indent="-269875">
              <a:lnSpc>
                <a:spcPct val="100000"/>
              </a:lnSpc>
              <a:defRPr sz="1600" baseline="0"/>
            </a:lvl4pPr>
            <a:lvl5pPr marL="1527175" indent="-268288">
              <a:lnSpc>
                <a:spcPct val="100000"/>
              </a:lnSpc>
              <a:buFont typeface="Wingdings" panose="05000000000000000000" pitchFamily="2" charset="2"/>
              <a:buChar char="§"/>
              <a:defRPr sz="1600" baseline="0"/>
            </a:lvl5pPr>
            <a:lvl6pPr marL="2286000" indent="0">
              <a:buNone/>
              <a:defRPr/>
            </a:lvl6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  <a:p>
            <a:pPr lvl="4"/>
            <a:r>
              <a:rPr lang="es-ES"/>
              <a:t>Texto libre</a:t>
            </a:r>
          </a:p>
          <a:p>
            <a:pPr lvl="3"/>
            <a:r>
              <a:rPr lang="es-ES"/>
              <a:t>Cuarto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3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5024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67" y="1998134"/>
            <a:ext cx="4576244" cy="2391833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1038" y="548005"/>
            <a:ext cx="8543925" cy="1325563"/>
          </a:xfrm>
          <a:prstGeom prst="rect">
            <a:avLst/>
          </a:prstGeom>
        </p:spPr>
        <p:txBody>
          <a:bodyPr anchor="ctr"/>
          <a:lstStyle>
            <a:lvl1pPr algn="ctr">
              <a:defRPr lang="es-ES" sz="2400" cap="all" baseline="0"/>
            </a:lvl1pPr>
          </a:lstStyle>
          <a:p>
            <a:pPr lvl="0" algn="ctr">
              <a:lnSpc>
                <a:spcPct val="100000"/>
              </a:lnSpc>
            </a:pPr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6692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/>
          <p:nvPr/>
        </p:nvSpPr>
        <p:spPr>
          <a:xfrm>
            <a:off x="465169" y="4109070"/>
            <a:ext cx="9000000" cy="2520000"/>
          </a:xfrm>
          <a:custGeom>
            <a:avLst/>
            <a:gdLst/>
            <a:ahLst/>
            <a:cxnLst/>
            <a:rect l="l" t="t" r="r" b="b"/>
            <a:pathLst>
              <a:path w="6863080" h="2917190">
                <a:moveTo>
                  <a:pt x="6863031" y="0"/>
                </a:moveTo>
                <a:lnTo>
                  <a:pt x="6807164" y="56369"/>
                </a:lnTo>
                <a:lnTo>
                  <a:pt x="6641019" y="221860"/>
                </a:lnTo>
                <a:lnTo>
                  <a:pt x="6510070" y="349709"/>
                </a:lnTo>
                <a:lnTo>
                  <a:pt x="6412778" y="442996"/>
                </a:lnTo>
                <a:lnTo>
                  <a:pt x="6316109" y="534090"/>
                </a:lnTo>
                <a:lnTo>
                  <a:pt x="6219917" y="623024"/>
                </a:lnTo>
                <a:lnTo>
                  <a:pt x="6124054" y="709832"/>
                </a:lnTo>
                <a:lnTo>
                  <a:pt x="6060255" y="766537"/>
                </a:lnTo>
                <a:lnTo>
                  <a:pt x="5996493" y="822322"/>
                </a:lnTo>
                <a:lnTo>
                  <a:pt x="5932724" y="877194"/>
                </a:lnTo>
                <a:lnTo>
                  <a:pt x="5868905" y="931165"/>
                </a:lnTo>
                <a:lnTo>
                  <a:pt x="5804992" y="984243"/>
                </a:lnTo>
                <a:lnTo>
                  <a:pt x="5740941" y="1036438"/>
                </a:lnTo>
                <a:lnTo>
                  <a:pt x="5676709" y="1087761"/>
                </a:lnTo>
                <a:lnTo>
                  <a:pt x="5612252" y="1138219"/>
                </a:lnTo>
                <a:lnTo>
                  <a:pt x="5547526" y="1187824"/>
                </a:lnTo>
                <a:lnTo>
                  <a:pt x="5482487" y="1236585"/>
                </a:lnTo>
                <a:lnTo>
                  <a:pt x="5417093" y="1284511"/>
                </a:lnTo>
                <a:lnTo>
                  <a:pt x="5351298" y="1331612"/>
                </a:lnTo>
                <a:lnTo>
                  <a:pt x="5285061" y="1377898"/>
                </a:lnTo>
                <a:lnTo>
                  <a:pt x="5218336" y="1423378"/>
                </a:lnTo>
                <a:lnTo>
                  <a:pt x="5151080" y="1468063"/>
                </a:lnTo>
                <a:lnTo>
                  <a:pt x="5083250" y="1511961"/>
                </a:lnTo>
                <a:lnTo>
                  <a:pt x="5014802" y="1555082"/>
                </a:lnTo>
                <a:lnTo>
                  <a:pt x="4945692" y="1597436"/>
                </a:lnTo>
                <a:lnTo>
                  <a:pt x="4875876" y="1639033"/>
                </a:lnTo>
                <a:lnTo>
                  <a:pt x="4805312" y="1679882"/>
                </a:lnTo>
                <a:lnTo>
                  <a:pt x="4733954" y="1719993"/>
                </a:lnTo>
                <a:lnTo>
                  <a:pt x="4661760" y="1759375"/>
                </a:lnTo>
                <a:lnTo>
                  <a:pt x="4588685" y="1798039"/>
                </a:lnTo>
                <a:lnTo>
                  <a:pt x="4514687" y="1835993"/>
                </a:lnTo>
                <a:lnTo>
                  <a:pt x="4439721" y="1873248"/>
                </a:lnTo>
                <a:lnTo>
                  <a:pt x="4363744" y="1909813"/>
                </a:lnTo>
                <a:lnTo>
                  <a:pt x="4286712" y="1945698"/>
                </a:lnTo>
                <a:lnTo>
                  <a:pt x="4208582" y="1980912"/>
                </a:lnTo>
                <a:lnTo>
                  <a:pt x="4129309" y="2015465"/>
                </a:lnTo>
                <a:lnTo>
                  <a:pt x="4048850" y="2049367"/>
                </a:lnTo>
                <a:lnTo>
                  <a:pt x="3967162" y="2082627"/>
                </a:lnTo>
                <a:lnTo>
                  <a:pt x="3884200" y="2115255"/>
                </a:lnTo>
                <a:lnTo>
                  <a:pt x="3799922" y="2147261"/>
                </a:lnTo>
                <a:lnTo>
                  <a:pt x="3670939" y="2194123"/>
                </a:lnTo>
                <a:lnTo>
                  <a:pt x="3538747" y="2239640"/>
                </a:lnTo>
                <a:lnTo>
                  <a:pt x="3403199" y="2283843"/>
                </a:lnTo>
                <a:lnTo>
                  <a:pt x="3264148" y="2326765"/>
                </a:lnTo>
                <a:lnTo>
                  <a:pt x="3121445" y="2368438"/>
                </a:lnTo>
                <a:lnTo>
                  <a:pt x="2974944" y="2408895"/>
                </a:lnTo>
                <a:lnTo>
                  <a:pt x="2773446" y="2461003"/>
                </a:lnTo>
                <a:lnTo>
                  <a:pt x="2564583" y="2511084"/>
                </a:lnTo>
                <a:lnTo>
                  <a:pt x="2348006" y="2559216"/>
                </a:lnTo>
                <a:lnTo>
                  <a:pt x="2123367" y="2605476"/>
                </a:lnTo>
                <a:lnTo>
                  <a:pt x="1830696" y="2660784"/>
                </a:lnTo>
                <a:lnTo>
                  <a:pt x="1524198" y="2713439"/>
                </a:lnTo>
                <a:lnTo>
                  <a:pt x="1137188" y="2773332"/>
                </a:lnTo>
                <a:lnTo>
                  <a:pt x="657696" y="2838999"/>
                </a:lnTo>
                <a:lnTo>
                  <a:pt x="0" y="2916749"/>
                </a:lnTo>
                <a:lnTo>
                  <a:pt x="6863031" y="2916749"/>
                </a:lnTo>
                <a:lnTo>
                  <a:pt x="6863031" y="0"/>
                </a:lnTo>
                <a:close/>
              </a:path>
            </a:pathLst>
          </a:custGeom>
          <a:solidFill>
            <a:srgbClr val="E6414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Agrupar 8"/>
          <p:cNvGrpSpPr/>
          <p:nvPr/>
        </p:nvGrpSpPr>
        <p:grpSpPr>
          <a:xfrm>
            <a:off x="8039627" y="5816012"/>
            <a:ext cx="1049132" cy="400210"/>
            <a:chOff x="5503661" y="9438498"/>
            <a:chExt cx="1381450" cy="526979"/>
          </a:xfrm>
        </p:grpSpPr>
        <p:sp>
          <p:nvSpPr>
            <p:cNvPr id="10" name="object 11"/>
            <p:cNvSpPr/>
            <p:nvPr/>
          </p:nvSpPr>
          <p:spPr>
            <a:xfrm>
              <a:off x="5503661" y="9438498"/>
              <a:ext cx="299720" cy="285115"/>
            </a:xfrm>
            <a:custGeom>
              <a:avLst/>
              <a:gdLst/>
              <a:ahLst/>
              <a:cxnLst/>
              <a:rect l="l" t="t" r="r" b="b"/>
              <a:pathLst>
                <a:path w="299720" h="285115">
                  <a:moveTo>
                    <a:pt x="151502" y="0"/>
                  </a:moveTo>
                  <a:lnTo>
                    <a:pt x="115416" y="108204"/>
                  </a:lnTo>
                  <a:lnTo>
                    <a:pt x="0" y="111796"/>
                  </a:lnTo>
                  <a:lnTo>
                    <a:pt x="93790" y="176748"/>
                  </a:lnTo>
                  <a:lnTo>
                    <a:pt x="61337" y="284943"/>
                  </a:lnTo>
                  <a:lnTo>
                    <a:pt x="151502" y="216369"/>
                  </a:lnTo>
                  <a:lnTo>
                    <a:pt x="219286" y="216369"/>
                  </a:lnTo>
                  <a:lnTo>
                    <a:pt x="205614" y="176748"/>
                  </a:lnTo>
                  <a:lnTo>
                    <a:pt x="299405" y="108204"/>
                  </a:lnTo>
                  <a:lnTo>
                    <a:pt x="187614" y="108204"/>
                  </a:lnTo>
                  <a:lnTo>
                    <a:pt x="151502" y="0"/>
                  </a:lnTo>
                  <a:close/>
                </a:path>
                <a:path w="299720" h="285115">
                  <a:moveTo>
                    <a:pt x="219286" y="216369"/>
                  </a:moveTo>
                  <a:lnTo>
                    <a:pt x="151502" y="216369"/>
                  </a:lnTo>
                  <a:lnTo>
                    <a:pt x="241700" y="281321"/>
                  </a:lnTo>
                  <a:lnTo>
                    <a:pt x="219286" y="2163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2"/>
            <p:cNvSpPr/>
            <p:nvPr/>
          </p:nvSpPr>
          <p:spPr>
            <a:xfrm>
              <a:off x="5864302" y="9438498"/>
              <a:ext cx="299720" cy="285115"/>
            </a:xfrm>
            <a:custGeom>
              <a:avLst/>
              <a:gdLst/>
              <a:ahLst/>
              <a:cxnLst/>
              <a:rect l="l" t="t" r="r" b="b"/>
              <a:pathLst>
                <a:path w="299720" h="285115">
                  <a:moveTo>
                    <a:pt x="151499" y="0"/>
                  </a:moveTo>
                  <a:lnTo>
                    <a:pt x="115412" y="108204"/>
                  </a:lnTo>
                  <a:lnTo>
                    <a:pt x="0" y="111796"/>
                  </a:lnTo>
                  <a:lnTo>
                    <a:pt x="93790" y="176748"/>
                  </a:lnTo>
                  <a:lnTo>
                    <a:pt x="61325" y="284943"/>
                  </a:lnTo>
                  <a:lnTo>
                    <a:pt x="151499" y="216369"/>
                  </a:lnTo>
                  <a:lnTo>
                    <a:pt x="219284" y="216369"/>
                  </a:lnTo>
                  <a:lnTo>
                    <a:pt x="205610" y="176748"/>
                  </a:lnTo>
                  <a:lnTo>
                    <a:pt x="299401" y="108204"/>
                  </a:lnTo>
                  <a:lnTo>
                    <a:pt x="187614" y="108204"/>
                  </a:lnTo>
                  <a:lnTo>
                    <a:pt x="151499" y="0"/>
                  </a:lnTo>
                  <a:close/>
                </a:path>
                <a:path w="299720" h="285115">
                  <a:moveTo>
                    <a:pt x="219284" y="216369"/>
                  </a:moveTo>
                  <a:lnTo>
                    <a:pt x="151499" y="216369"/>
                  </a:lnTo>
                  <a:lnTo>
                    <a:pt x="241701" y="281321"/>
                  </a:lnTo>
                  <a:lnTo>
                    <a:pt x="219284" y="2163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3"/>
            <p:cNvSpPr/>
            <p:nvPr/>
          </p:nvSpPr>
          <p:spPr>
            <a:xfrm>
              <a:off x="6228565" y="9438498"/>
              <a:ext cx="295910" cy="285115"/>
            </a:xfrm>
            <a:custGeom>
              <a:avLst/>
              <a:gdLst/>
              <a:ahLst/>
              <a:cxnLst/>
              <a:rect l="l" t="t" r="r" b="b"/>
              <a:pathLst>
                <a:path w="295909" h="285115">
                  <a:moveTo>
                    <a:pt x="147873" y="0"/>
                  </a:moveTo>
                  <a:lnTo>
                    <a:pt x="111786" y="108204"/>
                  </a:lnTo>
                  <a:lnTo>
                    <a:pt x="0" y="111796"/>
                  </a:lnTo>
                  <a:lnTo>
                    <a:pt x="90166" y="176748"/>
                  </a:lnTo>
                  <a:lnTo>
                    <a:pt x="57701" y="284943"/>
                  </a:lnTo>
                  <a:lnTo>
                    <a:pt x="147873" y="216369"/>
                  </a:lnTo>
                  <a:lnTo>
                    <a:pt x="217890" y="216369"/>
                  </a:lnTo>
                  <a:lnTo>
                    <a:pt x="205577" y="176748"/>
                  </a:lnTo>
                  <a:lnTo>
                    <a:pt x="295776" y="108204"/>
                  </a:lnTo>
                  <a:lnTo>
                    <a:pt x="183988" y="108204"/>
                  </a:lnTo>
                  <a:lnTo>
                    <a:pt x="147873" y="0"/>
                  </a:lnTo>
                  <a:close/>
                </a:path>
                <a:path w="295909" h="285115">
                  <a:moveTo>
                    <a:pt x="217890" y="216369"/>
                  </a:moveTo>
                  <a:lnTo>
                    <a:pt x="147873" y="216369"/>
                  </a:lnTo>
                  <a:lnTo>
                    <a:pt x="238075" y="281321"/>
                  </a:lnTo>
                  <a:lnTo>
                    <a:pt x="217890" y="2163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4"/>
            <p:cNvSpPr/>
            <p:nvPr/>
          </p:nvSpPr>
          <p:spPr>
            <a:xfrm>
              <a:off x="6044608" y="9687347"/>
              <a:ext cx="295910" cy="278130"/>
            </a:xfrm>
            <a:custGeom>
              <a:avLst/>
              <a:gdLst/>
              <a:ahLst/>
              <a:cxnLst/>
              <a:rect l="l" t="t" r="r" b="b"/>
              <a:pathLst>
                <a:path w="295910" h="278129">
                  <a:moveTo>
                    <a:pt x="147902" y="0"/>
                  </a:moveTo>
                  <a:lnTo>
                    <a:pt x="115437" y="108173"/>
                  </a:lnTo>
                  <a:lnTo>
                    <a:pt x="0" y="111795"/>
                  </a:lnTo>
                  <a:lnTo>
                    <a:pt x="93823" y="176757"/>
                  </a:lnTo>
                  <a:lnTo>
                    <a:pt x="61358" y="277686"/>
                  </a:lnTo>
                  <a:lnTo>
                    <a:pt x="147902" y="212746"/>
                  </a:lnTo>
                  <a:lnTo>
                    <a:pt x="218484" y="212746"/>
                  </a:lnTo>
                  <a:lnTo>
                    <a:pt x="205604" y="176757"/>
                  </a:lnTo>
                  <a:lnTo>
                    <a:pt x="295812" y="108173"/>
                  </a:lnTo>
                  <a:lnTo>
                    <a:pt x="184021" y="108173"/>
                  </a:lnTo>
                  <a:lnTo>
                    <a:pt x="147902" y="0"/>
                  </a:lnTo>
                  <a:close/>
                </a:path>
                <a:path w="295910" h="278129">
                  <a:moveTo>
                    <a:pt x="218484" y="212746"/>
                  </a:moveTo>
                  <a:lnTo>
                    <a:pt x="147902" y="212746"/>
                  </a:lnTo>
                  <a:lnTo>
                    <a:pt x="241726" y="277686"/>
                  </a:lnTo>
                  <a:lnTo>
                    <a:pt x="218484" y="2127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5"/>
            <p:cNvSpPr/>
            <p:nvPr/>
          </p:nvSpPr>
          <p:spPr>
            <a:xfrm>
              <a:off x="5683971" y="9687347"/>
              <a:ext cx="295910" cy="278130"/>
            </a:xfrm>
            <a:custGeom>
              <a:avLst/>
              <a:gdLst/>
              <a:ahLst/>
              <a:cxnLst/>
              <a:rect l="l" t="t" r="r" b="b"/>
              <a:pathLst>
                <a:path w="295910" h="278129">
                  <a:moveTo>
                    <a:pt x="147899" y="0"/>
                  </a:moveTo>
                  <a:lnTo>
                    <a:pt x="115437" y="108173"/>
                  </a:lnTo>
                  <a:lnTo>
                    <a:pt x="0" y="111795"/>
                  </a:lnTo>
                  <a:lnTo>
                    <a:pt x="93823" y="176757"/>
                  </a:lnTo>
                  <a:lnTo>
                    <a:pt x="61325" y="277686"/>
                  </a:lnTo>
                  <a:lnTo>
                    <a:pt x="147899" y="212746"/>
                  </a:lnTo>
                  <a:lnTo>
                    <a:pt x="218486" y="212746"/>
                  </a:lnTo>
                  <a:lnTo>
                    <a:pt x="205610" y="176757"/>
                  </a:lnTo>
                  <a:lnTo>
                    <a:pt x="295808" y="108173"/>
                  </a:lnTo>
                  <a:lnTo>
                    <a:pt x="184021" y="108173"/>
                  </a:lnTo>
                  <a:lnTo>
                    <a:pt x="147899" y="0"/>
                  </a:lnTo>
                  <a:close/>
                </a:path>
                <a:path w="295910" h="278129">
                  <a:moveTo>
                    <a:pt x="218486" y="212746"/>
                  </a:moveTo>
                  <a:lnTo>
                    <a:pt x="147899" y="212746"/>
                  </a:lnTo>
                  <a:lnTo>
                    <a:pt x="241721" y="277686"/>
                  </a:lnTo>
                  <a:lnTo>
                    <a:pt x="218486" y="2127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6"/>
            <p:cNvSpPr/>
            <p:nvPr/>
          </p:nvSpPr>
          <p:spPr>
            <a:xfrm>
              <a:off x="6408870" y="9687347"/>
              <a:ext cx="295910" cy="278130"/>
            </a:xfrm>
            <a:custGeom>
              <a:avLst/>
              <a:gdLst/>
              <a:ahLst/>
              <a:cxnLst/>
              <a:rect l="l" t="t" r="r" b="b"/>
              <a:pathLst>
                <a:path w="295909" h="278129">
                  <a:moveTo>
                    <a:pt x="147902" y="0"/>
                  </a:moveTo>
                  <a:lnTo>
                    <a:pt x="111780" y="108173"/>
                  </a:lnTo>
                  <a:lnTo>
                    <a:pt x="0" y="111795"/>
                  </a:lnTo>
                  <a:lnTo>
                    <a:pt x="90197" y="176757"/>
                  </a:lnTo>
                  <a:lnTo>
                    <a:pt x="57701" y="277686"/>
                  </a:lnTo>
                  <a:lnTo>
                    <a:pt x="147902" y="212746"/>
                  </a:lnTo>
                  <a:lnTo>
                    <a:pt x="217179" y="212746"/>
                  </a:lnTo>
                  <a:lnTo>
                    <a:pt x="205604" y="176757"/>
                  </a:lnTo>
                  <a:lnTo>
                    <a:pt x="295802" y="108173"/>
                  </a:lnTo>
                  <a:lnTo>
                    <a:pt x="183988" y="108173"/>
                  </a:lnTo>
                  <a:lnTo>
                    <a:pt x="147902" y="0"/>
                  </a:lnTo>
                  <a:close/>
                </a:path>
                <a:path w="295909" h="278129">
                  <a:moveTo>
                    <a:pt x="217179" y="212746"/>
                  </a:moveTo>
                  <a:lnTo>
                    <a:pt x="147902" y="212746"/>
                  </a:lnTo>
                  <a:lnTo>
                    <a:pt x="238067" y="277686"/>
                  </a:lnTo>
                  <a:lnTo>
                    <a:pt x="217179" y="2127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7"/>
            <p:cNvSpPr/>
            <p:nvPr/>
          </p:nvSpPr>
          <p:spPr>
            <a:xfrm>
              <a:off x="6589201" y="9438498"/>
              <a:ext cx="295910" cy="285115"/>
            </a:xfrm>
            <a:custGeom>
              <a:avLst/>
              <a:gdLst/>
              <a:ahLst/>
              <a:cxnLst/>
              <a:rect l="l" t="t" r="r" b="b"/>
              <a:pathLst>
                <a:path w="295909" h="285115">
                  <a:moveTo>
                    <a:pt x="147877" y="0"/>
                  </a:moveTo>
                  <a:lnTo>
                    <a:pt x="111787" y="108204"/>
                  </a:lnTo>
                  <a:lnTo>
                    <a:pt x="0" y="111796"/>
                  </a:lnTo>
                  <a:lnTo>
                    <a:pt x="90166" y="176748"/>
                  </a:lnTo>
                  <a:lnTo>
                    <a:pt x="57701" y="284943"/>
                  </a:lnTo>
                  <a:lnTo>
                    <a:pt x="147877" y="216369"/>
                  </a:lnTo>
                  <a:lnTo>
                    <a:pt x="217911" y="216369"/>
                  </a:lnTo>
                  <a:lnTo>
                    <a:pt x="205610" y="176748"/>
                  </a:lnTo>
                  <a:lnTo>
                    <a:pt x="295776" y="108204"/>
                  </a:lnTo>
                  <a:lnTo>
                    <a:pt x="183988" y="108204"/>
                  </a:lnTo>
                  <a:lnTo>
                    <a:pt x="147877" y="0"/>
                  </a:lnTo>
                  <a:close/>
                </a:path>
                <a:path w="295909" h="285115">
                  <a:moveTo>
                    <a:pt x="217911" y="216369"/>
                  </a:moveTo>
                  <a:lnTo>
                    <a:pt x="147877" y="216369"/>
                  </a:lnTo>
                  <a:lnTo>
                    <a:pt x="238075" y="281321"/>
                  </a:lnTo>
                  <a:lnTo>
                    <a:pt x="217911" y="2163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51451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2144" y="165544"/>
            <a:ext cx="1674433" cy="40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40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98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hromewebstore.google.com/detail/nexthink-amplify/bmpbcphgifhfkfjioddeenggdpffbge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madrid-digital.eu.nexthink.cloud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icrosoftedge.microsoft.com/addons/detail/nexthink-amplify/kcidkikoejfejnfmbmhmfkncdlopflhe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madrid-digital.eu.nexthink.cloud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Manual de instalación de la extensión </a:t>
            </a:r>
            <a:r>
              <a:rPr lang="es-ES" err="1"/>
              <a:t>Nexthink</a:t>
            </a:r>
            <a:r>
              <a:rPr lang="es-ES"/>
              <a:t> </a:t>
            </a:r>
            <a:r>
              <a:rPr lang="es-ES" err="1"/>
              <a:t>Amplify</a:t>
            </a:r>
            <a:endParaRPr lang="es-ES"/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0"/>
          </p:nvPr>
        </p:nvSpPr>
        <p:spPr>
          <a:xfrm>
            <a:off x="2225040" y="3614738"/>
            <a:ext cx="5379720" cy="655637"/>
          </a:xfrm>
        </p:spPr>
        <p:txBody>
          <a:bodyPr/>
          <a:lstStyle/>
          <a:p>
            <a:r>
              <a:rPr lang="es-ES"/>
              <a:t>GRA-768</a:t>
            </a:r>
          </a:p>
        </p:txBody>
      </p:sp>
    </p:spTree>
    <p:extLst>
      <p:ext uri="{BB962C8B-B14F-4D97-AF65-F5344CB8AC3E}">
        <p14:creationId xmlns:p14="http://schemas.microsoft.com/office/powerpoint/2010/main" val="1565579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913B1-81E4-4048-B7EA-B8AB3D5E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Verificación de Activos en CMDB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95D489-12AA-4C56-85F1-25593B4495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4001" y="1587711"/>
            <a:ext cx="8568000" cy="4388530"/>
          </a:xfrm>
        </p:spPr>
        <p:txBody>
          <a:bodyPr/>
          <a:lstStyle/>
          <a:p>
            <a:pPr marL="0" indent="0">
              <a:buNone/>
            </a:pPr>
            <a:r>
              <a:rPr lang="es-ES" sz="1600">
                <a:solidFill>
                  <a:schemeClr val="tx1"/>
                </a:solidFill>
              </a:rPr>
              <a:t>Acceso al Portal: </a:t>
            </a:r>
            <a:r>
              <a:rPr lang="es-ES" sz="1600" b="0">
                <a:solidFill>
                  <a:schemeClr val="tx1"/>
                </a:solidFill>
              </a:rPr>
              <a:t>Inicie sesión en la plataforma de Soporte al Puesto Digital con sus credenciales.</a:t>
            </a:r>
            <a:endParaRPr lang="es-ES" sz="1600" b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B2FAC6-B8C8-4455-B0F1-38191DB48E2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918" y="2576942"/>
            <a:ext cx="5420162" cy="3605687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23781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A6D-354B-451A-9E23-B824EA0E4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Comprobación del equipo en el contenedor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F4F35F-CC61-4A4A-BD1E-961C86219D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600" b="0" kern="100">
                <a:solidFill>
                  <a:schemeClr val="tx1"/>
                </a:solidFill>
                <a:effectLst/>
                <a:latin typeface="Aptos"/>
                <a:ea typeface="Aptos"/>
                <a:cs typeface="Times New Roman" panose="02020603050405020304" pitchFamily="18" charset="0"/>
              </a:rPr>
              <a:t>Buscar por “Puesto” para comprobar que el equipo este ubicado en el contenedor: </a:t>
            </a:r>
            <a:r>
              <a:rPr lang="es-ES" sz="1600" b="0" kern="100">
                <a:effectLst/>
                <a:latin typeface="Aptos"/>
                <a:ea typeface="Aptos"/>
                <a:cs typeface="Times New Roman" panose="02020603050405020304" pitchFamily="18" charset="0"/>
              </a:rPr>
              <a:t>EXTERNOS.ICM.CM.madrid.org</a:t>
            </a:r>
          </a:p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716D15C-0727-44C1-BA86-62B6E7280BC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826" y="2831303"/>
            <a:ext cx="5234955" cy="306440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169616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F222C-9828-4BE9-ACD0-3F235BC55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instalación de la extensión en Google </a:t>
            </a:r>
            <a:r>
              <a:rPr lang="es-ES" err="1"/>
              <a:t>chrome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D025CD-00CD-4193-A078-60EC54B878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8999" y="1510979"/>
            <a:ext cx="8568000" cy="4388530"/>
          </a:xfrm>
        </p:spPr>
        <p:txBody>
          <a:bodyPr/>
          <a:lstStyle/>
          <a:p>
            <a:pPr marL="0" indent="0">
              <a:buNone/>
            </a:pPr>
            <a:r>
              <a:rPr lang="es-ES" sz="1600" b="0">
                <a:solidFill>
                  <a:schemeClr val="tx1"/>
                </a:solidFill>
              </a:rPr>
              <a:t>Con la validación de CMDB completada, iniciamos la </a:t>
            </a:r>
            <a:r>
              <a:rPr lang="es-ES" sz="1600"/>
              <a:t>instalación</a:t>
            </a:r>
            <a:r>
              <a:rPr lang="es-ES" sz="1600" b="0">
                <a:solidFill>
                  <a:schemeClr val="tx1"/>
                </a:solidFill>
              </a:rPr>
              <a:t> de la extensión en el navegador y su correspondiente configuración: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545FB6D-6A23-4EB8-B562-3906A24E51F7}"/>
              </a:ext>
            </a:extLst>
          </p:cNvPr>
          <p:cNvSpPr txBox="1"/>
          <p:nvPr/>
        </p:nvSpPr>
        <p:spPr>
          <a:xfrm>
            <a:off x="683999" y="2265311"/>
            <a:ext cx="23251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u="sng">
                <a:solidFill>
                  <a:srgbClr val="CD3039"/>
                </a:solidFill>
                <a:effectLst/>
                <a:ea typeface="Aptos"/>
                <a:cs typeface="Times New Roman" panose="02020603050405020304" pitchFamily="18" charset="0"/>
                <a:hlinkClick r:id="rId2" tooltip="https://chromewebstore.google.com/detail/nexthink-amplify/bmpbcphgifhfkfjioddeenggdpffbge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Chrome</a:t>
            </a:r>
            <a:r>
              <a:rPr lang="es-ES" sz="1600" b="1" u="sng">
                <a:solidFill>
                  <a:srgbClr val="CD3039"/>
                </a:solidFill>
                <a:effectLst/>
                <a:ea typeface="Aptos"/>
                <a:cs typeface="Times New Roman" panose="02020603050405020304" pitchFamily="18" charset="0"/>
              </a:rPr>
              <a:t>:</a:t>
            </a:r>
            <a:endParaRPr lang="es-ES" sz="1600">
              <a:solidFill>
                <a:srgbClr val="CD3039"/>
              </a:solidFill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E0D2847-C220-439D-9334-E3A76E5FC8EC}"/>
              </a:ext>
            </a:extLst>
          </p:cNvPr>
          <p:cNvGrpSpPr/>
          <p:nvPr/>
        </p:nvGrpSpPr>
        <p:grpSpPr>
          <a:xfrm>
            <a:off x="2530791" y="3013165"/>
            <a:ext cx="5152248" cy="3334242"/>
            <a:chOff x="2530792" y="3203669"/>
            <a:chExt cx="4844415" cy="3135030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B48515A5-8E13-4873-9F2D-04C9FA2C9489}"/>
                </a:ext>
              </a:extLst>
            </p:cNvPr>
            <p:cNvPicPr/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7965"/>
            <a:stretch>
              <a:fillRect/>
            </a:stretch>
          </p:blipFill>
          <p:spPr bwMode="auto">
            <a:xfrm>
              <a:off x="2530792" y="3203669"/>
              <a:ext cx="4844415" cy="1031875"/>
            </a:xfrm>
            <a:prstGeom prst="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CDBFE3F-723C-4CEE-86A8-4E52C517BB7D}"/>
                </a:ext>
              </a:extLst>
            </p:cNvPr>
            <p:cNvPicPr/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5" t="1530" b="38236"/>
            <a:stretch>
              <a:fillRect/>
            </a:stretch>
          </p:blipFill>
          <p:spPr bwMode="auto">
            <a:xfrm>
              <a:off x="3071571" y="4468624"/>
              <a:ext cx="3792855" cy="1870075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6E7263E-5F9C-482F-9EF4-79E1AB7E06A7}"/>
              </a:ext>
            </a:extLst>
          </p:cNvPr>
          <p:cNvSpPr txBox="1"/>
          <p:nvPr/>
        </p:nvSpPr>
        <p:spPr>
          <a:xfrm>
            <a:off x="2347902" y="2325828"/>
            <a:ext cx="65985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/>
              <a:t>https://chromewebstore.google.com/detail/nexthink-amplify/bmpbcphgifhfkfjioddeenggdpffbgek</a:t>
            </a:r>
          </a:p>
        </p:txBody>
      </p:sp>
    </p:spTree>
    <p:extLst>
      <p:ext uri="{BB962C8B-B14F-4D97-AF65-F5344CB8AC3E}">
        <p14:creationId xmlns:p14="http://schemas.microsoft.com/office/powerpoint/2010/main" val="136372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B52F0-B659-4F1D-8D2C-550636D9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instalación de la extensión en Google </a:t>
            </a:r>
            <a:r>
              <a:rPr lang="es-ES" err="1"/>
              <a:t>chrome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C6C7CB-0F33-4072-81E8-5D407340C0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000" y="1727442"/>
            <a:ext cx="8568000" cy="4388530"/>
          </a:xfrm>
        </p:spPr>
        <p:txBody>
          <a:bodyPr/>
          <a:lstStyle/>
          <a:p>
            <a:pPr marL="0" indent="0">
              <a:buNone/>
            </a:pPr>
            <a:r>
              <a:rPr lang="es-ES" sz="1400" b="0">
                <a:solidFill>
                  <a:schemeClr val="tx1"/>
                </a:solidFill>
              </a:rPr>
              <a:t>Es necesario hacer </a:t>
            </a:r>
            <a:r>
              <a:rPr lang="es-ES" sz="1400" b="0" err="1">
                <a:solidFill>
                  <a:schemeClr val="tx1"/>
                </a:solidFill>
              </a:rPr>
              <a:t>click</a:t>
            </a:r>
            <a:r>
              <a:rPr lang="es-ES" sz="1400" b="0">
                <a:solidFill>
                  <a:schemeClr val="tx1"/>
                </a:solidFill>
              </a:rPr>
              <a:t> en el botón "</a:t>
            </a:r>
            <a:r>
              <a:rPr lang="es-ES" sz="1400" err="1">
                <a:solidFill>
                  <a:schemeClr val="tx1"/>
                </a:solidFill>
              </a:rPr>
              <a:t>Add</a:t>
            </a:r>
            <a:r>
              <a:rPr lang="es-ES" sz="1400">
                <a:solidFill>
                  <a:schemeClr val="tx1"/>
                </a:solidFill>
              </a:rPr>
              <a:t> </a:t>
            </a:r>
            <a:r>
              <a:rPr lang="es-ES" sz="1400" err="1">
                <a:solidFill>
                  <a:schemeClr val="tx1"/>
                </a:solidFill>
              </a:rPr>
              <a:t>Instance</a:t>
            </a:r>
            <a:r>
              <a:rPr lang="es-ES" sz="1400" b="0">
                <a:solidFill>
                  <a:schemeClr val="tx1"/>
                </a:solidFill>
              </a:rPr>
              <a:t>" para iniciar la vinculación con el servidor corporativo.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8B77A3-60BD-4DAB-B6D5-D13BF11924A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718" y="2281646"/>
            <a:ext cx="6468563" cy="4005943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864408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8EFF5-031F-4635-9F02-F7E157AD5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instalación de la extensión Google </a:t>
            </a:r>
            <a:r>
              <a:rPr lang="es-ES" err="1"/>
              <a:t>chrome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1C64FE-1CA4-448A-9814-5AC96794B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548" y="1604995"/>
            <a:ext cx="8568000" cy="4577861"/>
          </a:xfrm>
        </p:spPr>
        <p:txBody>
          <a:bodyPr/>
          <a:lstStyle/>
          <a:p>
            <a:pPr marL="0" indent="0">
              <a:buNone/>
            </a:pPr>
            <a:r>
              <a:rPr lang="es-ES" sz="1600" b="0" kern="100">
                <a:solidFill>
                  <a:schemeClr val="tx1"/>
                </a:solidFill>
                <a:effectLst/>
                <a:ea typeface="Aptos"/>
                <a:cs typeface="Times New Roman" panose="02020603050405020304" pitchFamily="18" charset="0"/>
              </a:rPr>
              <a:t>Rellenar los campos y clicar en </a:t>
            </a:r>
            <a:r>
              <a:rPr lang="es-ES" sz="1600" b="0" kern="100" err="1">
                <a:solidFill>
                  <a:schemeClr val="tx1"/>
                </a:solidFill>
                <a:effectLst/>
                <a:ea typeface="Aptos"/>
                <a:cs typeface="Times New Roman" panose="02020603050405020304" pitchFamily="18" charset="0"/>
              </a:rPr>
              <a:t>Login</a:t>
            </a:r>
            <a:r>
              <a:rPr lang="es-ES" sz="1600" b="0" kern="100">
                <a:solidFill>
                  <a:schemeClr val="tx1"/>
                </a:solidFill>
                <a:effectLst/>
                <a:ea typeface="Aptos"/>
                <a:cs typeface="Times New Roman" panose="02020603050405020304" pitchFamily="18" charset="0"/>
              </a:rPr>
              <a:t>:</a:t>
            </a:r>
          </a:p>
          <a:p>
            <a:pPr marL="6413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kern="100" err="1">
                <a:effectLst/>
                <a:ea typeface="Aptos"/>
                <a:cs typeface="Times New Roman" panose="02020603050405020304" pitchFamily="18" charset="0"/>
              </a:rPr>
              <a:t>Customer</a:t>
            </a:r>
            <a:r>
              <a:rPr lang="es-ES" kern="10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es-ES" kern="100" err="1">
                <a:effectLst/>
                <a:ea typeface="Aptos"/>
                <a:cs typeface="Times New Roman" panose="02020603050405020304" pitchFamily="18" charset="0"/>
              </a:rPr>
              <a:t>name</a:t>
            </a:r>
            <a:r>
              <a:rPr lang="es-ES" kern="100">
                <a:effectLst/>
                <a:ea typeface="Aptos"/>
                <a:cs typeface="Times New Roman" panose="02020603050405020304" pitchFamily="18" charset="0"/>
              </a:rPr>
              <a:t>:</a:t>
            </a:r>
            <a:r>
              <a:rPr lang="es-ES" kern="100">
                <a:ea typeface="Aptos"/>
                <a:cs typeface="Times New Roman" panose="02020603050405020304" pitchFamily="18" charset="0"/>
              </a:rPr>
              <a:t> </a:t>
            </a:r>
            <a:r>
              <a:rPr lang="es-ES" b="0" kern="100" err="1">
                <a:effectLst/>
                <a:ea typeface="Aptos"/>
                <a:cs typeface="Times New Roman" panose="02020603050405020304" pitchFamily="18" charset="0"/>
              </a:rPr>
              <a:t>madrid</a:t>
            </a:r>
            <a:r>
              <a:rPr lang="es-ES" b="0" kern="100">
                <a:effectLst/>
                <a:ea typeface="Aptos"/>
                <a:cs typeface="Times New Roman" panose="02020603050405020304" pitchFamily="18" charset="0"/>
              </a:rPr>
              <a:t>-digital</a:t>
            </a:r>
          </a:p>
          <a:p>
            <a:pPr marL="6413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kern="100">
                <a:effectLst/>
                <a:ea typeface="Aptos"/>
                <a:cs typeface="Times New Roman" panose="02020603050405020304" pitchFamily="18" charset="0"/>
              </a:rPr>
              <a:t>URL: </a:t>
            </a:r>
            <a:r>
              <a:rPr lang="es-ES" b="0" u="sng" kern="100">
                <a:solidFill>
                  <a:srgbClr val="CD3039"/>
                </a:solidFill>
                <a:effectLst/>
                <a:ea typeface="Aptos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https://madrid-digital.eu.nexthink.cloud</a:t>
            </a:r>
            <a:endParaRPr lang="es-ES" b="0" u="sng" kern="100">
              <a:solidFill>
                <a:srgbClr val="CD3039"/>
              </a:solidFill>
              <a:effectLst/>
              <a:ea typeface="Aptos"/>
              <a:cs typeface="Times New Roman" panose="02020603050405020304" pitchFamily="18" charset="0"/>
            </a:endParaRPr>
          </a:p>
          <a:p>
            <a:pPr marL="641350" lvl="1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kern="100">
                <a:effectLst/>
                <a:ea typeface="Aptos"/>
                <a:cs typeface="Times New Roman" panose="02020603050405020304" pitchFamily="18" charset="0"/>
              </a:rPr>
              <a:t>Validación: </a:t>
            </a:r>
            <a:r>
              <a:rPr lang="es-ES" b="0" kern="100">
                <a:effectLst/>
                <a:ea typeface="Aptos"/>
                <a:cs typeface="Times New Roman" panose="02020603050405020304" pitchFamily="18" charset="0"/>
              </a:rPr>
              <a:t>Haga clic en el botón Log in para verificar la conexión y proceder al inicio de sesión.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endParaRPr lang="es-ES" sz="1800" kern="10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</a:pPr>
            <a:endParaRPr lang="es-ES" kern="10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55498B-A991-4F95-B658-57A39394F2AB}"/>
              </a:ext>
            </a:extLst>
          </p:cNvPr>
          <p:cNvPicPr/>
          <p:nvPr/>
        </p:nvPicPr>
        <p:blipFill rotWithShape="1">
          <a:blip r:embed="rId3"/>
          <a:srcRect t="10428" b="7763"/>
          <a:stretch>
            <a:fillRect/>
          </a:stretch>
        </p:blipFill>
        <p:spPr bwMode="auto">
          <a:xfrm>
            <a:off x="1877703" y="3799260"/>
            <a:ext cx="6150594" cy="2387035"/>
          </a:xfrm>
          <a:prstGeom prst="rect">
            <a:avLst/>
          </a:prstGeom>
          <a:ln w="12700">
            <a:solidFill>
              <a:srgbClr val="C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55818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7D55A4-DC86-4349-9789-640FD1CA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instalación de la extensión Google </a:t>
            </a:r>
            <a:r>
              <a:rPr lang="es-ES" err="1"/>
              <a:t>chrome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034478-B4BC-4F67-BD96-FE0115B31C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3999" y="1604995"/>
            <a:ext cx="8568000" cy="4388530"/>
          </a:xfrm>
        </p:spPr>
        <p:txBody>
          <a:bodyPr/>
          <a:lstStyle/>
          <a:p>
            <a:pPr marL="0" indent="0">
              <a:buNone/>
            </a:pPr>
            <a:r>
              <a:rPr lang="es-ES" sz="1600" b="0">
                <a:solidFill>
                  <a:schemeClr val="tx1"/>
                </a:solidFill>
              </a:rPr>
              <a:t>Es necesario reiniciar el navegador para completar la activación y verificar el correcto funcionamiento del servicio.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EED30B6-D514-490E-BA17-87E5D550D48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47" y="2688110"/>
            <a:ext cx="8436504" cy="3224553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703803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A7888-972B-4F78-859F-F59E3416D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instalación de la extensión Microsoft </a:t>
            </a:r>
            <a:r>
              <a:rPr lang="es-ES" err="1"/>
              <a:t>edge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515033-2524-4192-B9A1-22FD11D4F7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3999" y="1692475"/>
            <a:ext cx="8568000" cy="4388530"/>
          </a:xfrm>
        </p:spPr>
        <p:txBody>
          <a:bodyPr/>
          <a:lstStyle/>
          <a:p>
            <a:pPr marL="0" indent="0">
              <a:buNone/>
            </a:pPr>
            <a:r>
              <a:rPr lang="es-ES" sz="1600" b="0">
                <a:solidFill>
                  <a:schemeClr val="tx1"/>
                </a:solidFill>
              </a:rPr>
              <a:t>Con la validación de CMDB completada, iniciamos la instalación de la extensión en el navegador y su correspondiente configuración:</a:t>
            </a:r>
          </a:p>
          <a:p>
            <a:pPr marL="0" indent="0">
              <a:buNone/>
            </a:pPr>
            <a:endParaRPr lang="es-ES" sz="1800" kern="10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S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BFE8366-725B-4BBF-9FD8-47CFD9315828}"/>
              </a:ext>
            </a:extLst>
          </p:cNvPr>
          <p:cNvGrpSpPr/>
          <p:nvPr/>
        </p:nvGrpSpPr>
        <p:grpSpPr>
          <a:xfrm>
            <a:off x="1595299" y="2991022"/>
            <a:ext cx="6715401" cy="3380654"/>
            <a:chOff x="2257425" y="3259465"/>
            <a:chExt cx="5391150" cy="2714002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1869F5BB-A8A9-4154-8C6A-C74929101A90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425" y="3259465"/>
              <a:ext cx="5391150" cy="700405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BA47AE72-56F8-4F65-A81D-F211E1908D56}"/>
                </a:ext>
              </a:extLst>
            </p:cNvPr>
            <p:cNvPicPr/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6817"/>
            <a:stretch>
              <a:fillRect/>
            </a:stretch>
          </p:blipFill>
          <p:spPr bwMode="auto">
            <a:xfrm>
              <a:off x="4020820" y="4257697"/>
              <a:ext cx="1864360" cy="1715770"/>
            </a:xfrm>
            <a:prstGeom prst="rect">
              <a:avLst/>
            </a:prstGeom>
            <a:noFill/>
            <a:ln w="12700">
              <a:solidFill>
                <a:srgbClr val="C00000"/>
              </a:solidFill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52958EA6-0601-4752-9702-3039FBECDC03}"/>
              </a:ext>
            </a:extLst>
          </p:cNvPr>
          <p:cNvSpPr txBox="1"/>
          <p:nvPr/>
        </p:nvSpPr>
        <p:spPr>
          <a:xfrm>
            <a:off x="654001" y="2344691"/>
            <a:ext cx="200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u="sng" kern="100">
                <a:solidFill>
                  <a:srgbClr val="CD3039"/>
                </a:solidFill>
                <a:effectLst/>
                <a:ea typeface="Aptos"/>
                <a:cs typeface="Times New Roman" panose="02020603050405020304" pitchFamily="18" charset="0"/>
                <a:hlinkClick r:id="rId4" tooltip="https://microsoftedge.microsoft.com/addons/detail/nexthink-amplify/kcidkikoejfejnfmbmhmfkncdlopflh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</a:t>
            </a:r>
            <a:r>
              <a:rPr lang="es-ES" sz="1800" b="1" u="sng" kern="100">
                <a:solidFill>
                  <a:srgbClr val="CD3039"/>
                </a:solidFill>
                <a:effectLst/>
                <a:ea typeface="Aptos"/>
                <a:cs typeface="Times New Roman" panose="02020603050405020304" pitchFamily="18" charset="0"/>
                <a:hlinkClick r:id="rId4" tooltip="https://microsoftedge.microsoft.com/addons/detail/nexthink-amplify/kcidkikoejfejnfmbmhmfkncdlopflh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1600" b="1" u="sng" kern="100">
                <a:solidFill>
                  <a:srgbClr val="CD3039"/>
                </a:solidFill>
                <a:effectLst/>
                <a:ea typeface="Aptos"/>
                <a:cs typeface="Times New Roman" panose="02020603050405020304" pitchFamily="18" charset="0"/>
                <a:hlinkClick r:id="rId4" tooltip="https://microsoftedge.microsoft.com/addons/detail/nexthink-amplify/kcidkikoejfejnfmbmhmfkncdlopflh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Edge</a:t>
            </a:r>
            <a:r>
              <a:rPr lang="es-ES" sz="1600" b="1" u="sng" kern="100">
                <a:solidFill>
                  <a:srgbClr val="CD3039"/>
                </a:solidFill>
                <a:effectLst/>
                <a:ea typeface="Aptos"/>
                <a:cs typeface="Times New Roman" panose="02020603050405020304" pitchFamily="18" charset="0"/>
              </a:rPr>
              <a:t>:</a:t>
            </a:r>
            <a:endParaRPr lang="es-ES" sz="1600" kern="100">
              <a:solidFill>
                <a:srgbClr val="CD3039"/>
              </a:solidFill>
              <a:effectLst/>
              <a:ea typeface="Aptos"/>
              <a:cs typeface="Times New Roman" panose="02020603050405020304" pitchFamily="18" charset="0"/>
            </a:endParaRPr>
          </a:p>
          <a:p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0ACACB4-9580-4E50-AD53-C57471F92C6A}"/>
              </a:ext>
            </a:extLst>
          </p:cNvPr>
          <p:cNvSpPr txBox="1"/>
          <p:nvPr/>
        </p:nvSpPr>
        <p:spPr>
          <a:xfrm>
            <a:off x="2295551" y="2429097"/>
            <a:ext cx="70844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/>
              <a:t>https://microsoftedge.microsoft.com/addons/detail/nexthink-amplify/kcidkikoejfejnfmbmhmfkncdlopflhe</a:t>
            </a:r>
          </a:p>
        </p:txBody>
      </p:sp>
    </p:spTree>
    <p:extLst>
      <p:ext uri="{BB962C8B-B14F-4D97-AF65-F5344CB8AC3E}">
        <p14:creationId xmlns:p14="http://schemas.microsoft.com/office/powerpoint/2010/main" val="3679604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55746-5D25-4555-A18C-DA4C2B092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instalación de la extensión Microsoft </a:t>
            </a:r>
            <a:r>
              <a:rPr lang="es-ES" err="1"/>
              <a:t>edge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E8E903-642E-467E-9AAE-21F8CD13B6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4001" y="1596420"/>
            <a:ext cx="8568000" cy="4388530"/>
          </a:xfrm>
        </p:spPr>
        <p:txBody>
          <a:bodyPr/>
          <a:lstStyle/>
          <a:p>
            <a:pPr marL="0" indent="0">
              <a:buNone/>
            </a:pPr>
            <a:r>
              <a:rPr lang="es-ES" sz="1600" b="0">
                <a:solidFill>
                  <a:schemeClr val="tx1"/>
                </a:solidFill>
              </a:rPr>
              <a:t>Es necesario hacer </a:t>
            </a:r>
            <a:r>
              <a:rPr lang="es-ES" sz="1600" b="0" err="1">
                <a:solidFill>
                  <a:schemeClr val="tx1"/>
                </a:solidFill>
              </a:rPr>
              <a:t>click</a:t>
            </a:r>
            <a:r>
              <a:rPr lang="es-ES" sz="1600" b="0">
                <a:solidFill>
                  <a:schemeClr val="tx1"/>
                </a:solidFill>
              </a:rPr>
              <a:t> en el botón "</a:t>
            </a:r>
            <a:r>
              <a:rPr lang="es-ES" sz="1600" err="1">
                <a:solidFill>
                  <a:schemeClr val="tx1"/>
                </a:solidFill>
              </a:rPr>
              <a:t>Add</a:t>
            </a:r>
            <a:r>
              <a:rPr lang="es-ES" sz="1600">
                <a:solidFill>
                  <a:schemeClr val="tx1"/>
                </a:solidFill>
              </a:rPr>
              <a:t> </a:t>
            </a:r>
            <a:r>
              <a:rPr lang="es-ES" sz="1600" err="1">
                <a:solidFill>
                  <a:schemeClr val="tx1"/>
                </a:solidFill>
              </a:rPr>
              <a:t>Instance</a:t>
            </a:r>
            <a:r>
              <a:rPr lang="es-ES" sz="1600" b="0">
                <a:solidFill>
                  <a:schemeClr val="tx1"/>
                </a:solidFill>
              </a:rPr>
              <a:t>" para iniciar la vinculación con el servidor corporativo.</a:t>
            </a:r>
          </a:p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0C6475-21C5-4895-8558-711B7EC62F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69436" y="2424420"/>
            <a:ext cx="6367127" cy="3950254"/>
          </a:xfrm>
          <a:prstGeom prst="rect">
            <a:avLst/>
          </a:prstGeom>
          <a:ln w="127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790855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70C4D-4479-4910-8139-D81CA084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instalación de la extensión Microsoft </a:t>
            </a:r>
            <a:r>
              <a:rPr lang="es-ES" err="1"/>
              <a:t>edge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D7C748-0DA7-488E-82B9-CC13D8EF36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3999" y="1457344"/>
            <a:ext cx="8568000" cy="4388530"/>
          </a:xfrm>
        </p:spPr>
        <p:txBody>
          <a:bodyPr/>
          <a:lstStyle/>
          <a:p>
            <a:pPr marL="0" indent="0">
              <a:buNone/>
            </a:pPr>
            <a:r>
              <a:rPr lang="es-ES" sz="1600" b="0" kern="100">
                <a:solidFill>
                  <a:schemeClr val="tx1"/>
                </a:solidFill>
                <a:effectLst/>
                <a:ea typeface="Aptos"/>
                <a:cs typeface="Times New Roman" panose="02020603050405020304" pitchFamily="18" charset="0"/>
              </a:rPr>
              <a:t>Rellenar los campos y clicar en </a:t>
            </a:r>
            <a:r>
              <a:rPr lang="es-ES" sz="1600" b="0" kern="100" err="1">
                <a:solidFill>
                  <a:schemeClr val="tx1"/>
                </a:solidFill>
                <a:effectLst/>
                <a:ea typeface="Aptos"/>
                <a:cs typeface="Times New Roman" panose="02020603050405020304" pitchFamily="18" charset="0"/>
              </a:rPr>
              <a:t>Login</a:t>
            </a:r>
            <a:r>
              <a:rPr lang="es-ES" sz="1600" b="0" kern="100">
                <a:solidFill>
                  <a:schemeClr val="tx1"/>
                </a:solidFill>
                <a:effectLst/>
                <a:ea typeface="Aptos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kern="100" err="1">
                <a:effectLst/>
                <a:ea typeface="Aptos"/>
                <a:cs typeface="Times New Roman" panose="02020603050405020304" pitchFamily="18" charset="0"/>
              </a:rPr>
              <a:t>Customer</a:t>
            </a:r>
            <a:r>
              <a:rPr lang="es-ES" kern="100">
                <a:effectLst/>
                <a:ea typeface="Aptos"/>
                <a:cs typeface="Times New Roman" panose="02020603050405020304" pitchFamily="18" charset="0"/>
              </a:rPr>
              <a:t> </a:t>
            </a:r>
            <a:r>
              <a:rPr lang="es-ES" kern="100" err="1">
                <a:effectLst/>
                <a:ea typeface="Aptos"/>
                <a:cs typeface="Times New Roman" panose="02020603050405020304" pitchFamily="18" charset="0"/>
              </a:rPr>
              <a:t>name</a:t>
            </a:r>
            <a:r>
              <a:rPr lang="es-ES" kern="100">
                <a:effectLst/>
                <a:ea typeface="Aptos"/>
                <a:cs typeface="Times New Roman" panose="02020603050405020304" pitchFamily="18" charset="0"/>
              </a:rPr>
              <a:t>:</a:t>
            </a:r>
            <a:r>
              <a:rPr lang="es-ES" kern="100">
                <a:ea typeface="Aptos"/>
                <a:cs typeface="Times New Roman" panose="02020603050405020304" pitchFamily="18" charset="0"/>
              </a:rPr>
              <a:t> </a:t>
            </a:r>
            <a:r>
              <a:rPr lang="es-ES" b="0" kern="100" err="1">
                <a:effectLst/>
                <a:ea typeface="Aptos"/>
                <a:cs typeface="Times New Roman" panose="02020603050405020304" pitchFamily="18" charset="0"/>
              </a:rPr>
              <a:t>madrid</a:t>
            </a:r>
            <a:r>
              <a:rPr lang="es-ES" b="0" kern="100">
                <a:effectLst/>
                <a:ea typeface="Aptos"/>
                <a:cs typeface="Times New Roman" panose="02020603050405020304" pitchFamily="18" charset="0"/>
              </a:rPr>
              <a:t>-digital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kern="100">
                <a:effectLst/>
                <a:ea typeface="Aptos"/>
                <a:cs typeface="Times New Roman" panose="02020603050405020304" pitchFamily="18" charset="0"/>
              </a:rPr>
              <a:t>URL: </a:t>
            </a:r>
            <a:r>
              <a:rPr lang="es-ES" b="0" u="sng" kern="100">
                <a:solidFill>
                  <a:srgbClr val="CD3039"/>
                </a:solidFill>
                <a:effectLst/>
                <a:ea typeface="Aptos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https://madrid-digital.eu.nexthink.cloud</a:t>
            </a:r>
            <a:endParaRPr lang="es-ES" b="0" u="sng" kern="100">
              <a:solidFill>
                <a:srgbClr val="CD3039"/>
              </a:solidFill>
              <a:effectLst/>
              <a:ea typeface="Aptos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kern="100">
                <a:effectLst/>
                <a:ea typeface="Aptos"/>
                <a:cs typeface="Times New Roman" panose="02020603050405020304" pitchFamily="18" charset="0"/>
              </a:rPr>
              <a:t>Validación: </a:t>
            </a:r>
            <a:r>
              <a:rPr lang="es-ES" b="0" kern="100">
                <a:effectLst/>
                <a:ea typeface="Aptos"/>
                <a:cs typeface="Times New Roman" panose="02020603050405020304" pitchFamily="18" charset="0"/>
              </a:rPr>
              <a:t>Haga clic en el botón Log in para verificar la conexión y proceder al inicio de sesión.</a:t>
            </a:r>
          </a:p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11B64C-6FB5-48F9-ADC6-298A37875C46}"/>
              </a:ext>
            </a:extLst>
          </p:cNvPr>
          <p:cNvPicPr/>
          <p:nvPr/>
        </p:nvPicPr>
        <p:blipFill rotWithShape="1">
          <a:blip r:embed="rId3"/>
          <a:srcRect t="28866" b="2405"/>
          <a:stretch>
            <a:fillRect/>
          </a:stretch>
        </p:blipFill>
        <p:spPr bwMode="auto">
          <a:xfrm>
            <a:off x="1317822" y="3428999"/>
            <a:ext cx="7270356" cy="3102429"/>
          </a:xfrm>
          <a:prstGeom prst="rect">
            <a:avLst/>
          </a:prstGeom>
          <a:ln w="12700">
            <a:solidFill>
              <a:srgbClr val="C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11671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B05F2-20D7-46C8-AE3A-78DF8D9BB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instalación de la extensión Microsoft </a:t>
            </a:r>
            <a:r>
              <a:rPr lang="es-ES" err="1"/>
              <a:t>edge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43F595-895D-4C82-BD7D-9D947218E4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000" y="1604995"/>
            <a:ext cx="8568000" cy="4388530"/>
          </a:xfrm>
        </p:spPr>
        <p:txBody>
          <a:bodyPr/>
          <a:lstStyle/>
          <a:p>
            <a:pPr marL="0" indent="0">
              <a:buNone/>
            </a:pPr>
            <a:r>
              <a:rPr lang="es-ES" sz="1600" b="0">
                <a:solidFill>
                  <a:schemeClr val="tx1"/>
                </a:solidFill>
              </a:rPr>
              <a:t>Es necesario reiniciar el navegador para completar la activación y verificar el correcto funcionamiento del servicio.</a:t>
            </a:r>
          </a:p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5F8D3B-D5CC-4267-9337-9AD33F96232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47" y="2688110"/>
            <a:ext cx="8436504" cy="3224553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41810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857087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_PowerPoint_Madrid_Digital[1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resentacion.potx" id="{3117BC33-B353-40E3-B579-57129C145167}" vid="{558762C5-2ABE-4C34-A3D0-B372D9A14268}"/>
    </a:ext>
  </a:extLst>
</a:theme>
</file>

<file path=ppt/theme/theme2.xml><?xml version="1.0" encoding="utf-8"?>
<a:theme xmlns:a="http://schemas.openxmlformats.org/drawingml/2006/main" name="Interior">
  <a:themeElements>
    <a:clrScheme name="Personalizado 6">
      <a:dk1>
        <a:sysClr val="windowText" lastClr="000000"/>
      </a:dk1>
      <a:lt1>
        <a:sysClr val="window" lastClr="FFFFFF"/>
      </a:lt1>
      <a:dk2>
        <a:srgbClr val="323232"/>
      </a:dk2>
      <a:lt2>
        <a:srgbClr val="989898"/>
      </a:lt2>
      <a:accent1>
        <a:srgbClr val="C00000"/>
      </a:accent1>
      <a:accent2>
        <a:srgbClr val="656565"/>
      </a:accent2>
      <a:accent3>
        <a:srgbClr val="989898"/>
      </a:accent3>
      <a:accent4>
        <a:srgbClr val="CBCBCB"/>
      </a:accent4>
      <a:accent5>
        <a:srgbClr val="EAEAEA"/>
      </a:accent5>
      <a:accent6>
        <a:srgbClr val="F2F2F2"/>
      </a:accent6>
      <a:hlink>
        <a:srgbClr val="002060"/>
      </a:hlink>
      <a:folHlink>
        <a:srgbClr val="00206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resentacion.potx" id="{3117BC33-B353-40E3-B579-57129C145167}" vid="{4CB4F36E-3257-4F1D-9BDE-1FFF9058DB5E}"/>
    </a:ext>
  </a:extLst>
</a:theme>
</file>

<file path=ppt/theme/theme3.xml><?xml version="1.0" encoding="utf-8"?>
<a:theme xmlns:a="http://schemas.openxmlformats.org/drawingml/2006/main" name="Blanc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resentacion.potx" id="{3117BC33-B353-40E3-B579-57129C145167}" vid="{9E0F9A17-BEAD-492E-8057-63C9A8B6E438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81A81A842C7F04CBEABCC67D7FFDB0F" ma:contentTypeVersion="26" ma:contentTypeDescription="Crear nuevo documento." ma:contentTypeScope="" ma:versionID="5364ef5b5555db1b3601bc18774b9af7">
  <xsd:schema xmlns:xsd="http://www.w3.org/2001/XMLSchema" xmlns:xs="http://www.w3.org/2001/XMLSchema" xmlns:p="http://schemas.microsoft.com/office/2006/metadata/properties" xmlns:ns2="0016d52e-137e-494a-9a9d-1d066bdef961" xmlns:ns3="76e3f657-6374-4c28-b86d-fee68cc09170" targetNamespace="http://schemas.microsoft.com/office/2006/metadata/properties" ma:root="true" ma:fieldsID="3cab765ae5dbc312a0d74b836d7727a2" ns2:_="" ns3:_="">
    <xsd:import namespace="0016d52e-137e-494a-9a9d-1d066bdef961"/>
    <xsd:import namespace="76e3f657-6374-4c28-b86d-fee68cc091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_ModernAudienceTargetUserField" minOccurs="0"/>
                <xsd:element ref="ns2:_ModernAudienceAadObjectIds" minOccurs="0"/>
                <xsd:element ref="ns2:Gema"/>
                <xsd:element ref="ns2:_Flow_SignoffStatu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Fechademodificaci_x00f3_n" minOccurs="0"/>
                <xsd:element ref="ns3:TaxKeywordTaxHTField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16d52e-137e-494a-9a9d-1d066bdef9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ModernAudienceTargetUserField" ma:index="19" nillable="true" ma:displayName="Público" ma:list="UserInfo" ma:SharePointGroup="0" ma:internalName="_ModernAudienceTargetUserField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ModernAudienceAadObjectIds" ma:index="20" nillable="true" ma:displayName="AudienceIds" ma:list="{f1bcb6b8-5dd7-4ee4-a870-561c50f5d7dc}" ma:internalName="_ModernAudienceAadObjectIds" ma:readOnly="true" ma:showField="_AadObjectIdForUser" ma:web="76e3f657-6374-4c28-b86d-fee68cc091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Gema" ma:index="21" ma:displayName="Gema" ma:default="0" ma:format="Dropdown" ma:internalName="Gema">
      <xsd:simpleType>
        <xsd:restriction base="dms:Boolean"/>
      </xsd:simpleType>
    </xsd:element>
    <xsd:element name="_Flow_SignoffStatus" ma:index="22" nillable="true" ma:displayName="Estado de aprobación" ma:internalName="Estado_x0020_de_x0020_aprobaci_x00f3_n">
      <xsd:simpleType>
        <xsd:restriction base="dms:Text"/>
      </xsd:simpleType>
    </xsd:element>
    <xsd:element name="lcf76f155ced4ddcb4097134ff3c332f" ma:index="24" nillable="true" ma:taxonomy="true" ma:internalName="lcf76f155ced4ddcb4097134ff3c332f" ma:taxonomyFieldName="MediaServiceImageTags" ma:displayName="Etiquetas de imagen" ma:readOnly="false" ma:fieldId="{5cf76f15-5ced-4ddc-b409-7134ff3c332f}" ma:taxonomyMulti="true" ma:sspId="f6a6488a-54df-425c-be80-a6bf39aec3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Fechademodificaci_x00f3_n" ma:index="28" nillable="true" ma:displayName="Fecha de modificación" ma:format="DateOnly" ma:internalName="Fechademodificaci_x00f3_n">
      <xsd:simpleType>
        <xsd:restriction base="dms:DateTim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e3f657-6374-4c28-b86d-fee68cc09170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8c260d5e-48fb-4311-9eec-78c00acd145b}" ma:internalName="TaxCatchAll" ma:showField="CatchAllData" ma:web="76e3f657-6374-4c28-b86d-fee68cc091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KeywordTaxHTField" ma:index="30" nillable="true" ma:taxonomy="true" ma:internalName="TaxKeywordTaxHTField" ma:taxonomyFieldName="TaxKeyword" ma:displayName="Palabras clave de empresa" ma:fieldId="{23f27201-bee3-471e-b2e7-b64fd8b7ca38}" ma:taxonomyMulti="true" ma:sspId="f6a6488a-54df-425c-be80-a6bf39aec34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6e3f657-6374-4c28-b86d-fee68cc09170" xsi:nil="true"/>
    <SharedWithUsers xmlns="76e3f657-6374-4c28-b86d-fee68cc09170">
      <UserInfo>
        <DisplayName>PROVENCIO GARCIA, DAVID</DisplayName>
        <AccountId>99</AccountId>
        <AccountType/>
      </UserInfo>
    </SharedWithUsers>
    <lcf76f155ced4ddcb4097134ff3c332f xmlns="0016d52e-137e-494a-9a9d-1d066bdef961">
      <Terms xmlns="http://schemas.microsoft.com/office/infopath/2007/PartnerControls"/>
    </lcf76f155ced4ddcb4097134ff3c332f>
    <_ModernAudienceTargetUserField xmlns="0016d52e-137e-494a-9a9d-1d066bdef961">
      <UserInfo>
        <DisplayName/>
        <AccountId xsi:nil="true"/>
        <AccountType/>
      </UserInfo>
    </_ModernAudienceTargetUserField>
    <Fechademodificaci_x00f3_n xmlns="0016d52e-137e-494a-9a9d-1d066bdef961" xsi:nil="true"/>
    <TaxKeywordTaxHTField xmlns="76e3f657-6374-4c28-b86d-fee68cc09170">
      <Terms xmlns="http://schemas.microsoft.com/office/infopath/2007/PartnerControls"/>
    </TaxKeywordTaxHTField>
    <Gema xmlns="0016d52e-137e-494a-9a9d-1d066bdef961">false</Gema>
    <_Flow_SignoffStatus xmlns="0016d52e-137e-494a-9a9d-1d066bdef961" xsi:nil="true"/>
  </documentManagement>
</p:properties>
</file>

<file path=customXml/itemProps1.xml><?xml version="1.0" encoding="utf-8"?>
<ds:datastoreItem xmlns:ds="http://schemas.openxmlformats.org/officeDocument/2006/customXml" ds:itemID="{9444D944-804D-4504-AF63-566FFF308E33}">
  <ds:schemaRefs>
    <ds:schemaRef ds:uri="0016d52e-137e-494a-9a9d-1d066bdef961"/>
    <ds:schemaRef ds:uri="76e3f657-6374-4c28-b86d-fee68cc091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F7DA9DB-D5A4-499A-8DD3-5ACAC2A468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89B693-8766-4DCB-A307-AD4247B5A72B}">
  <ds:schemaRefs>
    <ds:schemaRef ds:uri="0016d52e-137e-494a-9a9d-1d066bdef961"/>
    <ds:schemaRef ds:uri="76e3f657-6374-4c28-b86d-fee68cc09170"/>
    <ds:schemaRef ds:uri="bb587c6e-b32e-48cf-817e-a6be1808802c"/>
    <ds:schemaRef ds:uri="e6a5fcd6-dd9a-4bd9-959d-b411ce447d3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 presentacion 2</Template>
  <Application>Microsoft Office PowerPoint</Application>
  <PresentationFormat>A4 (210 x 297 mm)</PresentationFormat>
  <Slides>12</Slides>
  <Notes>1</Notes>
  <HiddenSlides>0</HiddenSlide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Plantilla_PowerPoint_Madrid_Digital[1]</vt:lpstr>
      <vt:lpstr>Interior</vt:lpstr>
      <vt:lpstr>Blanco</vt:lpstr>
      <vt:lpstr>Manual de instalación de la extensión Nexthink Amplify</vt:lpstr>
      <vt:lpstr>Verificación de Activos en CMDB</vt:lpstr>
      <vt:lpstr>Comprobación del equipo en el contenedor</vt:lpstr>
      <vt:lpstr>instalación de la extensión en Google chrome</vt:lpstr>
      <vt:lpstr>instalación de la extensión en Google chrome</vt:lpstr>
      <vt:lpstr>instalación de la extensión Google chrome</vt:lpstr>
      <vt:lpstr>instalación de la extensión Google chrome</vt:lpstr>
      <vt:lpstr>instalación de la extensión Microsoft edge</vt:lpstr>
      <vt:lpstr>instalación de la extensión Microsoft edge</vt:lpstr>
      <vt:lpstr>instalación de la extensión Microsoft edge</vt:lpstr>
      <vt:lpstr>instalación de la extensión Microsoft edge</vt:lpstr>
      <vt:lpstr>Presentación de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instalación de la extensión Nexthink Amplify</dc:title>
  <dc:creator>MUÑOZ OLMO, MIGUEL ANGEL</dc:creator>
  <cp:revision>3</cp:revision>
  <dcterms:created xsi:type="dcterms:W3CDTF">2026-04-29T06:31:44Z</dcterms:created>
  <dcterms:modified xsi:type="dcterms:W3CDTF">2026-05-30T23:45:49Z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0x010100881A81A842C7F04CBEABCC67D7FFDB0F</vt:lpwstr>
  </property>
  <property fmtid="{D5CDD505-2E9C-101B-9397-08002B2CF9AE}" pid="3" name="Ámbito">
    <vt:lpwstr>13;#Soporte multicanal al usuario|1577fe6c-e55e-4d6e-9bbd-1f018fb53b2d</vt:lpwstr>
  </property>
  <property fmtid="{D5CDD505-2E9C-101B-9397-08002B2CF9AE}" pid="4" name="Servicio">
    <vt:lpwstr/>
  </property>
  <property fmtid="{D5CDD505-2E9C-101B-9397-08002B2CF9AE}" pid="5" name="N3">
    <vt:lpwstr/>
  </property>
  <property fmtid="{D5CDD505-2E9C-101B-9397-08002B2CF9AE}" pid="6" name="N1">
    <vt:lpwstr/>
  </property>
  <property fmtid="{D5CDD505-2E9C-101B-9397-08002B2CF9AE}" pid="7" name="Sistemas de información">
    <vt:lpwstr/>
  </property>
  <property fmtid="{D5CDD505-2E9C-101B-9397-08002B2CF9AE}" pid="8" name="N2">
    <vt:lpwstr/>
  </property>
  <property fmtid="{D5CDD505-2E9C-101B-9397-08002B2CF9AE}" pid="9" name="Aplicación">
    <vt:lpwstr/>
  </property>
  <property fmtid="{D5CDD505-2E9C-101B-9397-08002B2CF9AE}" pid="10" name="WorkflowChangePath">
    <vt:lpwstr>beb5c8d4-2c28-40ac-9f65-6cf3c63d88d4,6;dbeb9587-847c-4bb3-a77b-ae6f77b025f9,8;</vt:lpwstr>
  </property>
  <property fmtid="{D5CDD505-2E9C-101B-9397-08002B2CF9AE}" pid="11" name="Estado">
    <vt:lpwstr>No iniciado</vt:lpwstr>
  </property>
  <property fmtid="{D5CDD505-2E9C-101B-9397-08002B2CF9AE}" pid="12" name="Descripción">
    <vt:lpwstr>1</vt:lpwstr>
  </property>
  <property fmtid="{D5CDD505-2E9C-101B-9397-08002B2CF9AE}" pid="13" name="Responsable del contenido">
    <vt:lpwstr/>
  </property>
  <property fmtid="{D5CDD505-2E9C-101B-9397-08002B2CF9AE}" pid="14" name="MediaServiceImageTags">
    <vt:lpwstr/>
  </property>
  <property fmtid="{D5CDD505-2E9C-101B-9397-08002B2CF9AE}" pid="15" name="_x004e_1">
    <vt:lpwstr/>
  </property>
  <property fmtid="{D5CDD505-2E9C-101B-9397-08002B2CF9AE}" pid="16" name="C_x00f3_digo_x0020_del_x0020_tipo_x0020_de_x0020_documento">
    <vt:lpwstr>687;#GRA|c254dbc6-2efe-4fc8-ae43-c0e0705342de</vt:lpwstr>
  </property>
  <property fmtid="{D5CDD505-2E9C-101B-9397-08002B2CF9AE}" pid="17" name="_x004e_2">
    <vt:lpwstr/>
  </property>
  <property fmtid="{D5CDD505-2E9C-101B-9397-08002B2CF9AE}" pid="18" name="_x00c1_mbito">
    <vt:lpwstr>13;#Soporte multicanal al usuario|1577fe6c-e55e-4d6e-9bbd-1f018fb53b2d</vt:lpwstr>
  </property>
  <property fmtid="{D5CDD505-2E9C-101B-9397-08002B2CF9AE}" pid="19" name="Responsable_x0020_del_x0020_contenido">
    <vt:lpwstr/>
  </property>
  <property fmtid="{D5CDD505-2E9C-101B-9397-08002B2CF9AE}" pid="20" name="_x004e_3">
    <vt:lpwstr/>
  </property>
  <property fmtid="{D5CDD505-2E9C-101B-9397-08002B2CF9AE}" pid="21" name="Código del tipo de documento">
    <vt:lpwstr>687;#GRA|c254dbc6-2efe-4fc8-ae43-c0e0705342de</vt:lpwstr>
  </property>
  <property fmtid="{D5CDD505-2E9C-101B-9397-08002B2CF9AE}" pid="22" name="TaxKeyword">
    <vt:lpwstr/>
  </property>
</Properties>
</file>